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20000" y="330000"/>
            <a:ext cx="11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60000" rIns="160000" tIns="90000" bIns="90000"/>
          <a:lstStyle/>
          <a:p>
            <a:pPr algn="l"/>
            <a:r>
              <a:rPr lang="zh-CN" sz="3600" b="1">
                <a:solidFill>
                  <a:srgbClr val="EAFBFF"/>
                </a:solidFill>
                <a:latin typeface="Microsoft YaHei"/>
                <a:ea typeface="Microsoft YaHei"/>
              </a:rPr>
              <a:t>倒茶功能技术方案</a:t>
            </a:r>
          </a:p>
        </p:txBody>
      </p:sp>
      <p:sp>
        <p:nvSpPr>
          <p:cNvPr id="3" name="副标题"/>
          <p:cNvSpPr txBox="1"/>
          <p:nvPr/>
        </p:nvSpPr>
        <p:spPr>
          <a:xfrm>
            <a:off x="560000" y="980000"/>
            <a:ext cx="108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B7C8D6"/>
                </a:solidFill>
                <a:latin typeface="Microsoft YaHei"/>
                <a:ea typeface="Microsoft YaHei"/>
              </a:rPr>
              <a:t>从 OAK-D 视觉感知到半示教点位，再到机器人倒茶执行的闭环流程</a:t>
            </a:r>
          </a:p>
        </p:txBody>
      </p:sp>
      <p:sp>
        <p:nvSpPr>
          <p:cNvPr id="10" name="视觉输入"/>
          <p:cNvSpPr txBox="1"/>
          <p:nvPr/>
        </p:nvSpPr>
        <p:spPr>
          <a:xfrm>
            <a:off x="520000" y="1680000"/>
            <a:ext cx="2500000" cy="150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38D3FF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视觉输入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OAK-D 相机采集桌面/棋盘画面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YOLO 识别杯子、茶叶区域、水瓶</a:t>
            </a:r>
          </a:p>
        </p:txBody>
      </p:sp>
      <p:sp>
        <p:nvSpPr>
          <p:cNvPr id="30" name="流程箭头"/>
          <p:cNvSpPr/>
          <p:nvPr/>
        </p:nvSpPr>
        <p:spPr>
          <a:xfrm>
            <a:off x="3080000" y="2240000"/>
            <a:ext cx="180000" cy="260000"/>
          </a:xfrm>
          <a:prstGeom prst="rightArrow">
            <a:avLst/>
          </a:prstGeom>
          <a:solidFill>
            <a:srgbClr val="38D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棋盘约束"/>
          <p:cNvSpPr txBox="1"/>
          <p:nvPr/>
        </p:nvSpPr>
        <p:spPr>
          <a:xfrm>
            <a:off x="3280000" y="1680000"/>
            <a:ext cx="2500000" cy="150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F4D58D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棋盘约束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25mm 黑白格作为桌面坐标参考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右下角交点作为原点定义</a:t>
            </a:r>
          </a:p>
        </p:txBody>
      </p:sp>
      <p:sp>
        <p:nvSpPr>
          <p:cNvPr id="31" name="流程箭头"/>
          <p:cNvSpPr/>
          <p:nvPr/>
        </p:nvSpPr>
        <p:spPr>
          <a:xfrm>
            <a:off x="5840000" y="2240000"/>
            <a:ext cx="180000" cy="260000"/>
          </a:xfrm>
          <a:prstGeom prst="rightArrow">
            <a:avLst/>
          </a:prstGeom>
          <a:solidFill>
            <a:srgbClr val="F4D58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半示教点位"/>
          <p:cNvSpPr txBox="1"/>
          <p:nvPr/>
        </p:nvSpPr>
        <p:spPr>
          <a:xfrm>
            <a:off x="6040000" y="1680000"/>
            <a:ext cx="2500000" cy="150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7EE7B5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半示教点位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人工移动机器人到关键目标点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保存 TCP、关节角、夹爪状态</a:t>
            </a:r>
          </a:p>
        </p:txBody>
      </p:sp>
      <p:sp>
        <p:nvSpPr>
          <p:cNvPr id="32" name="流程箭头"/>
          <p:cNvSpPr/>
          <p:nvPr/>
        </p:nvSpPr>
        <p:spPr>
          <a:xfrm>
            <a:off x="8600000" y="2240000"/>
            <a:ext cx="180000" cy="260000"/>
          </a:xfrm>
          <a:prstGeom prst="rightArrow">
            <a:avLst/>
          </a:prstGeom>
          <a:solidFill>
            <a:srgbClr val="7EE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流程执行"/>
          <p:cNvSpPr txBox="1"/>
          <p:nvPr/>
        </p:nvSpPr>
        <p:spPr>
          <a:xfrm>
            <a:off x="8800000" y="1680000"/>
            <a:ext cx="2500000" cy="150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FFB86B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流程执行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按步骤 MOVEL 到点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停稳检测后切换夹爪</a:t>
            </a:r>
          </a:p>
        </p:txBody>
      </p:sp>
      <p:sp>
        <p:nvSpPr>
          <p:cNvPr id="50" name="关键约束"/>
          <p:cNvSpPr txBox="1"/>
          <p:nvPr/>
        </p:nvSpPr>
        <p:spPr>
          <a:xfrm>
            <a:off x="760000" y="5200000"/>
            <a:ext cx="11000000" cy="620000"/>
          </a:xfrm>
          <a:prstGeom prst="roundRect">
            <a:avLst/>
          </a:prstGeom>
          <a:solidFill>
            <a:srgbClr val="102230"/>
          </a:solidFill>
          <a:ln w="12000">
            <a:solidFill>
              <a:srgbClr val="38D3FF">
                <a:alpha val="50000"/>
              </a:srgbClr>
            </a:solidFill>
          </a:ln>
        </p:spPr>
        <p:txBody>
          <a:bodyPr wrap="square" lIns="160000" rIns="160000" tIns="90000" bIns="90000"/>
          <a:lstStyle/>
          <a:p>
            <a:pPr algn="ctr"/>
            <a:r>
              <a:rPr lang="zh-CN" sz="1550" b="1">
                <a:solidFill>
                  <a:srgbClr val="EAFBFF"/>
                </a:solidFill>
                <a:latin typeface="Microsoft YaHei"/>
                <a:ea typeface="Microsoft YaHei"/>
              </a:rPr>
              <a:t>安全策略：当前阶段优先采用“视觉辅助 + 半示教点位”，不直接依赖未知姿态抓取；首次运行建议单步执行。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20000" y="330000"/>
            <a:ext cx="11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60000" rIns="160000" tIns="90000" bIns="90000"/>
          <a:lstStyle/>
          <a:p>
            <a:pPr algn="l"/>
            <a:r>
              <a:rPr lang="zh-CN" sz="3600" b="1">
                <a:solidFill>
                  <a:srgbClr val="EAFBFF"/>
                </a:solidFill>
                <a:latin typeface="Microsoft YaHei"/>
                <a:ea typeface="Microsoft YaHei"/>
              </a:rPr>
              <a:t>半示教点位设计</a:t>
            </a:r>
          </a:p>
        </p:txBody>
      </p:sp>
      <p:sp>
        <p:nvSpPr>
          <p:cNvPr id="3" name="副标题"/>
          <p:cNvSpPr txBox="1"/>
          <p:nvPr/>
        </p:nvSpPr>
        <p:spPr>
          <a:xfrm>
            <a:off x="560000" y="980000"/>
            <a:ext cx="108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B7C8D6"/>
                </a:solidFill>
                <a:latin typeface="Microsoft YaHei"/>
                <a:ea typeface="Microsoft YaHei"/>
              </a:rPr>
              <a:t>10 个可编辑/可重录点位保存到 tea_points.txt，用于后续自动串联</a:t>
            </a:r>
          </a:p>
        </p:txBody>
      </p:sp>
      <p:sp>
        <p:nvSpPr>
          <p:cNvPr id="10" name="茶叶路径"/>
          <p:cNvSpPr txBox="1"/>
          <p:nvPr/>
        </p:nvSpPr>
        <p:spPr>
          <a:xfrm>
            <a:off x="620000" y="1580000"/>
            <a:ext cx="5300000" cy="360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7EE7B5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茶叶相关点位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camera_view：拍照观察位：松开，相机覆盖棋盘与物体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board_origin：棋盘右下角原点：松开，建立坐标参考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tea_pick：抓茶叶点：夹紧，伸入茶叶区域夹取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tea_safe：茶叶安全过渡点：夹紧，抬 Z 规避罐口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cup_drop：杯口放茶点：松开，释放茶叶</a:t>
            </a:r>
          </a:p>
        </p:txBody>
      </p:sp>
      <p:sp>
        <p:nvSpPr>
          <p:cNvPr id="11" name="水瓶路径"/>
          <p:cNvSpPr txBox="1"/>
          <p:nvPr/>
        </p:nvSpPr>
        <p:spPr>
          <a:xfrm>
            <a:off x="6720000" y="1580000"/>
            <a:ext cx="5300000" cy="360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F4D58D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水瓶相关点位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bottle_pick：抓水瓶点：夹紧，稳定夹住瓶身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bottle_safe：水瓶安全过渡点：抓前松开/抓后夹紧复用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bottle_pour：倒水姿态点：夹紧，倾斜倒水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bottle_place：水瓶放回点：松开，放回桌面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safe_home：结束安全点：松开，回到开阔区域</a:t>
            </a:r>
          </a:p>
        </p:txBody>
      </p:sp>
      <p:sp>
        <p:nvSpPr>
          <p:cNvPr id="40" name="存储格式"/>
          <p:cNvSpPr txBox="1"/>
          <p:nvPr/>
        </p:nvSpPr>
        <p:spPr>
          <a:xfrm>
            <a:off x="900000" y="5350000"/>
            <a:ext cx="10300000" cy="820000"/>
          </a:xfrm>
          <a:prstGeom prst="roundRect">
            <a:avLst/>
          </a:prstGeom>
          <a:solidFill>
            <a:srgbClr val="0E1B25"/>
          </a:solidFill>
          <a:ln w="8000">
            <a:solidFill>
              <a:srgbClr val="FFFFFF">
                <a:alpha val="25000"/>
              </a:srgbClr>
            </a:solidFill>
          </a:ln>
        </p:spPr>
        <p:txBody>
          <a:bodyPr wrap="square" lIns="160000" rIns="160000" tIns="90000" bIns="90000"/>
          <a:lstStyle/>
          <a:p>
            <a:pPr algn="ctr"/>
            <a:r>
              <a:rPr lang="zh-CN" sz="1450" b="0">
                <a:solidFill>
                  <a:srgbClr val="D9E8F2"/>
                </a:solidFill>
                <a:latin typeface="Microsoft YaHei"/>
                <a:ea typeface="Microsoft YaHei"/>
              </a:rPr>
              <a:t>文件结构：version / squareSizeMm / origin / points；每个点保存 pose[XYZRXRYRZ]、joints[6]、gripperClosed、savedAt。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20000" y="330000"/>
            <a:ext cx="11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60000" rIns="160000" tIns="90000" bIns="90000"/>
          <a:lstStyle/>
          <a:p>
            <a:pPr algn="l"/>
            <a:r>
              <a:rPr lang="zh-CN" sz="3600" b="1">
                <a:solidFill>
                  <a:srgbClr val="EAFBFF"/>
                </a:solidFill>
                <a:latin typeface="Microsoft YaHei"/>
                <a:ea typeface="Microsoft YaHei"/>
              </a:rPr>
              <a:t>执行控制与安全策略</a:t>
            </a:r>
          </a:p>
        </p:txBody>
      </p:sp>
      <p:sp>
        <p:nvSpPr>
          <p:cNvPr id="3" name="副标题"/>
          <p:cNvSpPr txBox="1"/>
          <p:nvPr/>
        </p:nvSpPr>
        <p:spPr>
          <a:xfrm>
            <a:off x="560000" y="980000"/>
            <a:ext cx="108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B7C8D6"/>
                </a:solidFill>
                <a:latin typeface="Microsoft YaHei"/>
                <a:ea typeface="Microsoft YaHei"/>
              </a:rPr>
              <a:t>倒茶 UI 已加入预检、单步执行、完整执行和停止/重置</a:t>
            </a:r>
          </a:p>
        </p:txBody>
      </p:sp>
      <p:sp>
        <p:nvSpPr>
          <p:cNvPr id="10" name="执行流程"/>
          <p:cNvSpPr txBox="1"/>
          <p:nvPr/>
        </p:nvSpPr>
        <p:spPr>
          <a:xfrm>
            <a:off x="650000" y="1580000"/>
            <a:ext cx="5200000" cy="305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38D3FF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倒茶执行流程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1. 读取 tea_points.txt，并预检关键点是否齐全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2. 单步执行：发送 MOVEL 到当前步骤点位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3. 每 2s 监测关节变化，确认机器人停稳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4. 到点后根据流程语义切换夹爪状态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5. 完整执行时按茶叶路径、水瓶路径顺序串联</a:t>
            </a:r>
          </a:p>
        </p:txBody>
      </p:sp>
      <p:sp>
        <p:nvSpPr>
          <p:cNvPr id="11" name="安全策略"/>
          <p:cNvSpPr txBox="1"/>
          <p:nvPr/>
        </p:nvSpPr>
        <p:spPr>
          <a:xfrm>
            <a:off x="6800000" y="1580000"/>
            <a:ext cx="5200000" cy="3050000"/>
          </a:xfrm>
          <a:prstGeom prst="roundRect">
            <a:avLst/>
          </a:prstGeom>
          <a:solidFill>
            <a:srgbClr val="0B1620"/>
          </a:solidFill>
          <a:ln w="17000">
            <a:solidFill>
              <a:srgbClr val="FF5B61">
                <a:alpha val="85000"/>
              </a:srgbClr>
            </a:solidFill>
          </a:ln>
        </p:spPr>
        <p:txBody>
          <a:bodyPr wrap="square" lIns="160000" rIns="160000" tIns="90000" bIns="90000"/>
          <a:lstStyle/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安全与调试建议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首次运行使用“单步执行下一步”逐点确认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停止/重置不是急停，只请求当前步停稳后中断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真正危险时使用页面/底层急停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水瓶倾倒点需重点观察瓶口方向和杯口距离</a:t>
            </a:r>
          </a:p>
          <a:p>
            <a:pPr algn="l"/>
            <a:r>
              <a:rPr lang="zh-CN" sz="1500" b="0">
                <a:solidFill>
                  <a:srgbClr val="EEF6FF"/>
                </a:solidFill>
                <a:latin typeface="Microsoft YaHei"/>
                <a:ea typeface="Microsoft YaHei"/>
              </a:rPr>
              <a:t>• 茶叶安全点本质是规避点：抓完后提高 Z 再横移</a:t>
            </a:r>
          </a:p>
        </p:txBody>
      </p:sp>
      <p:sp>
        <p:nvSpPr>
          <p:cNvPr id="30" name="落地状态"/>
          <p:cNvSpPr txBox="1"/>
          <p:nvPr/>
        </p:nvSpPr>
        <p:spPr>
          <a:xfrm>
            <a:off x="760000" y="5150000"/>
            <a:ext cx="10900000" cy="900000"/>
          </a:xfrm>
          <a:prstGeom prst="roundRect">
            <a:avLst/>
          </a:prstGeom>
          <a:solidFill>
            <a:srgbClr val="132432"/>
          </a:solidFill>
          <a:ln w="15000">
            <a:solidFill>
              <a:srgbClr val="7EE7B5">
                <a:alpha val="70000"/>
              </a:srgbClr>
            </a:solidFill>
          </a:ln>
        </p:spPr>
        <p:txBody>
          <a:bodyPr wrap="square" lIns="160000" rIns="160000" tIns="90000" bIns="90000"/>
          <a:lstStyle/>
          <a:p>
            <a:pPr algn="ctr"/>
            <a:r>
              <a:rPr lang="zh-CN" sz="1600" b="1">
                <a:solidFill>
                  <a:srgbClr val="EAFBFF"/>
                </a:solidFill>
                <a:latin typeface="Microsoft YaHei"/>
                <a:ea typeface="Microsoft YaHei"/>
              </a:rPr>
              <a:t>当前落地状态：YOLO 可识别目标；倒茶 UI 支持相机、关节/TCP 控制、10 点半示教、tea_points.txt 持久化与串联执行。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ka Dark">
  <a:themeElements>
    <a:clrScheme name="Moka">
      <a:dk1>
        <a:srgbClr val="071018"/>
      </a:dk1>
      <a:lt1>
        <a:srgbClr val="FFFFFF"/>
      </a:lt1>
      <a:dk2>
        <a:srgbClr val="0B1620"/>
      </a:dk2>
      <a:lt2>
        <a:srgbClr val="EAFBFF"/>
      </a:lt2>
      <a:accent1>
        <a:srgbClr val="38D3FF"/>
      </a:accent1>
      <a:accent2>
        <a:srgbClr val="F4D58D"/>
      </a:accent2>
      <a:accent3>
        <a:srgbClr val="7EE7B5"/>
      </a:accent3>
      <a:accent4>
        <a:srgbClr val="FF5B61"/>
      </a:accent4>
      <a:accent5>
        <a:srgbClr val="B38CFF"/>
      </a:accent5>
      <a:accent6>
        <a:srgbClr val="FFB86B"/>
      </a:accent6>
      <a:hlink>
        <a:srgbClr val="38D3FF"/>
      </a:hlink>
      <a:folHlink>
        <a:srgbClr val="B38CFF"/>
      </a:folHlink>
    </a:clrScheme>
    <a:fontScheme name="Moka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MokaFm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倒茶技术方案</dc:title>
  <dc:creator>Codex</dc:creator>
  <cp:lastModifiedBy>Codex</cp:lastModifiedBy>
  <dcterms:created xsi:type="dcterms:W3CDTF">2026-06-05T15:34:27.043520+00:00</dcterms:created>
  <dcterms:modified xsi:type="dcterms:W3CDTF">2026-06-05T15:34:27.043520+00:00</dcterms:modified>
</cp:coreProperties>
</file>